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11" d="100"/>
          <a:sy n="111" d="100"/>
        </p:scale>
        <p:origin x="5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F3AAD59-84AA-47E1-A2B6-B263B5545932}" type="datetimeFigureOut">
              <a:rPr lang="en-ZA" smtClean="0"/>
              <a:t>2025/11/21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C3AC110-76E0-42DB-A6F3-97CFD103A87B}" type="slidenum">
              <a:rPr lang="en-ZA" smtClean="0"/>
              <a:t>‹#›</a:t>
            </a:fld>
            <a:endParaRPr lang="en-ZA"/>
          </a:p>
        </p:txBody>
      </p:sp>
    </p:spTree>
    <p:extLst>
      <p:ext uri="{BB962C8B-B14F-4D97-AF65-F5344CB8AC3E}">
        <p14:creationId xmlns:p14="http://schemas.microsoft.com/office/powerpoint/2010/main" val="481243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3AAD59-84AA-47E1-A2B6-B263B5545932}" type="datetimeFigureOut">
              <a:rPr lang="en-ZA" smtClean="0"/>
              <a:t>2025/11/21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C3AC110-76E0-42DB-A6F3-97CFD103A87B}" type="slidenum">
              <a:rPr lang="en-ZA" smtClean="0"/>
              <a:t>‹#›</a:t>
            </a:fld>
            <a:endParaRPr lang="en-ZA"/>
          </a:p>
        </p:txBody>
      </p:sp>
    </p:spTree>
    <p:extLst>
      <p:ext uri="{BB962C8B-B14F-4D97-AF65-F5344CB8AC3E}">
        <p14:creationId xmlns:p14="http://schemas.microsoft.com/office/powerpoint/2010/main" val="2559831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3AAD59-84AA-47E1-A2B6-B263B5545932}" type="datetimeFigureOut">
              <a:rPr lang="en-ZA" smtClean="0"/>
              <a:t>2025/11/21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C3AC110-76E0-42DB-A6F3-97CFD103A87B}" type="slidenum">
              <a:rPr lang="en-ZA" smtClean="0"/>
              <a:t>‹#›</a:t>
            </a:fld>
            <a:endParaRPr lang="en-ZA"/>
          </a:p>
        </p:txBody>
      </p:sp>
    </p:spTree>
    <p:extLst>
      <p:ext uri="{BB962C8B-B14F-4D97-AF65-F5344CB8AC3E}">
        <p14:creationId xmlns:p14="http://schemas.microsoft.com/office/powerpoint/2010/main" val="1360691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3AAD59-84AA-47E1-A2B6-B263B5545932}" type="datetimeFigureOut">
              <a:rPr lang="en-ZA" smtClean="0"/>
              <a:t>2025/11/21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4C3AC110-76E0-42DB-A6F3-97CFD103A87B}" type="slidenum">
              <a:rPr lang="en-ZA" smtClean="0"/>
              <a:t>‹#›</a:t>
            </a:fld>
            <a:endParaRPr lang="en-ZA"/>
          </a:p>
        </p:txBody>
      </p:sp>
    </p:spTree>
    <p:extLst>
      <p:ext uri="{BB962C8B-B14F-4D97-AF65-F5344CB8AC3E}">
        <p14:creationId xmlns:p14="http://schemas.microsoft.com/office/powerpoint/2010/main" val="3053175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3AAD59-84AA-47E1-A2B6-B263B5545932}" type="datetimeFigureOut">
              <a:rPr lang="en-ZA" smtClean="0"/>
              <a:t>2025/11/21</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4C3AC110-76E0-42DB-A6F3-97CFD103A87B}" type="slidenum">
              <a:rPr lang="en-ZA" smtClean="0"/>
              <a:t>‹#›</a:t>
            </a:fld>
            <a:endParaRPr lang="en-ZA"/>
          </a:p>
        </p:txBody>
      </p:sp>
    </p:spTree>
    <p:extLst>
      <p:ext uri="{BB962C8B-B14F-4D97-AF65-F5344CB8AC3E}">
        <p14:creationId xmlns:p14="http://schemas.microsoft.com/office/powerpoint/2010/main" val="2282283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F3AAD59-84AA-47E1-A2B6-B263B5545932}" type="datetimeFigureOut">
              <a:rPr lang="en-ZA" smtClean="0"/>
              <a:t>2025/11/21</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4C3AC110-76E0-42DB-A6F3-97CFD103A87B}" type="slidenum">
              <a:rPr lang="en-ZA" smtClean="0"/>
              <a:t>‹#›</a:t>
            </a:fld>
            <a:endParaRPr lang="en-ZA"/>
          </a:p>
        </p:txBody>
      </p:sp>
    </p:spTree>
    <p:extLst>
      <p:ext uri="{BB962C8B-B14F-4D97-AF65-F5344CB8AC3E}">
        <p14:creationId xmlns:p14="http://schemas.microsoft.com/office/powerpoint/2010/main" val="2314361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3AAD59-84AA-47E1-A2B6-B263B5545932}" type="datetimeFigureOut">
              <a:rPr lang="en-ZA" smtClean="0"/>
              <a:t>2025/11/21</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4C3AC110-76E0-42DB-A6F3-97CFD103A87B}" type="slidenum">
              <a:rPr lang="en-ZA" smtClean="0"/>
              <a:t>‹#›</a:t>
            </a:fld>
            <a:endParaRPr lang="en-ZA"/>
          </a:p>
        </p:txBody>
      </p:sp>
    </p:spTree>
    <p:extLst>
      <p:ext uri="{BB962C8B-B14F-4D97-AF65-F5344CB8AC3E}">
        <p14:creationId xmlns:p14="http://schemas.microsoft.com/office/powerpoint/2010/main" val="1296272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F3AAD59-84AA-47E1-A2B6-B263B5545932}" type="datetimeFigureOut">
              <a:rPr lang="en-ZA" smtClean="0"/>
              <a:t>2025/11/21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4C3AC110-76E0-42DB-A6F3-97CFD103A87B}" type="slidenum">
              <a:rPr lang="en-ZA" smtClean="0"/>
              <a:t>‹#›</a:t>
            </a:fld>
            <a:endParaRPr lang="en-ZA"/>
          </a:p>
        </p:txBody>
      </p:sp>
    </p:spTree>
    <p:extLst>
      <p:ext uri="{BB962C8B-B14F-4D97-AF65-F5344CB8AC3E}">
        <p14:creationId xmlns:p14="http://schemas.microsoft.com/office/powerpoint/2010/main" val="1726276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F3AAD59-84AA-47E1-A2B6-B263B5545932}" type="datetimeFigureOut">
              <a:rPr lang="en-ZA" smtClean="0"/>
              <a:t>2025/11/21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4C3AC110-76E0-42DB-A6F3-97CFD103A87B}" type="slidenum">
              <a:rPr lang="en-ZA" smtClean="0"/>
              <a:t>‹#›</a:t>
            </a:fld>
            <a:endParaRPr lang="en-ZA"/>
          </a:p>
        </p:txBody>
      </p:sp>
    </p:spTree>
    <p:extLst>
      <p:ext uri="{BB962C8B-B14F-4D97-AF65-F5344CB8AC3E}">
        <p14:creationId xmlns:p14="http://schemas.microsoft.com/office/powerpoint/2010/main" val="1390071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3AAD59-84AA-47E1-A2B6-B263B5545932}" type="datetimeFigureOut">
              <a:rPr lang="en-ZA" smtClean="0"/>
              <a:t>2025/11/21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C3AC110-76E0-42DB-A6F3-97CFD103A87B}" type="slidenum">
              <a:rPr lang="en-ZA" smtClean="0"/>
              <a:t>‹#›</a:t>
            </a:fld>
            <a:endParaRPr lang="en-ZA"/>
          </a:p>
        </p:txBody>
      </p:sp>
    </p:spTree>
    <p:extLst>
      <p:ext uri="{BB962C8B-B14F-4D97-AF65-F5344CB8AC3E}">
        <p14:creationId xmlns:p14="http://schemas.microsoft.com/office/powerpoint/2010/main" val="3355861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3AAD59-84AA-47E1-A2B6-B263B5545932}" type="datetimeFigureOut">
              <a:rPr lang="en-ZA" smtClean="0"/>
              <a:t>2025/11/21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C3AC110-76E0-42DB-A6F3-97CFD103A87B}" type="slidenum">
              <a:rPr lang="en-ZA" smtClean="0"/>
              <a:t>‹#›</a:t>
            </a:fld>
            <a:endParaRPr lang="en-ZA"/>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987154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3AAD59-84AA-47E1-A2B6-B263B5545932}" type="datetimeFigureOut">
              <a:rPr lang="en-ZA" smtClean="0"/>
              <a:t>2025/11/21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C3AC110-76E0-42DB-A6F3-97CFD103A87B}" type="slidenum">
              <a:rPr lang="en-ZA" smtClean="0"/>
              <a:t>‹#›</a:t>
            </a:fld>
            <a:endParaRPr lang="en-ZA"/>
          </a:p>
        </p:txBody>
      </p:sp>
    </p:spTree>
    <p:extLst>
      <p:ext uri="{BB962C8B-B14F-4D97-AF65-F5344CB8AC3E}">
        <p14:creationId xmlns:p14="http://schemas.microsoft.com/office/powerpoint/2010/main" val="31251151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3AAD59-84AA-47E1-A2B6-B263B5545932}" type="datetimeFigureOut">
              <a:rPr lang="en-ZA" smtClean="0"/>
              <a:t>2025/11/21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C3AC110-76E0-42DB-A6F3-97CFD103A87B}" type="slidenum">
              <a:rPr lang="en-ZA" smtClean="0"/>
              <a:t>‹#›</a:t>
            </a:fld>
            <a:endParaRPr lang="en-ZA"/>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826354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3AAD59-84AA-47E1-A2B6-B263B5545932}" type="datetimeFigureOut">
              <a:rPr lang="en-ZA" smtClean="0"/>
              <a:t>2025/11/21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C3AC110-76E0-42DB-A6F3-97CFD103A87B}" type="slidenum">
              <a:rPr lang="en-ZA" smtClean="0"/>
              <a:t>‹#›</a:t>
            </a:fld>
            <a:endParaRPr lang="en-ZA"/>
          </a:p>
        </p:txBody>
      </p:sp>
    </p:spTree>
    <p:extLst>
      <p:ext uri="{BB962C8B-B14F-4D97-AF65-F5344CB8AC3E}">
        <p14:creationId xmlns:p14="http://schemas.microsoft.com/office/powerpoint/2010/main" val="10266550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3AAD59-84AA-47E1-A2B6-B263B5545932}" type="datetimeFigureOut">
              <a:rPr lang="en-ZA" smtClean="0"/>
              <a:t>2025/11/21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C3AC110-76E0-42DB-A6F3-97CFD103A87B}" type="slidenum">
              <a:rPr lang="en-ZA" smtClean="0"/>
              <a:t>‹#›</a:t>
            </a:fld>
            <a:endParaRPr lang="en-ZA"/>
          </a:p>
        </p:txBody>
      </p:sp>
    </p:spTree>
    <p:extLst>
      <p:ext uri="{BB962C8B-B14F-4D97-AF65-F5344CB8AC3E}">
        <p14:creationId xmlns:p14="http://schemas.microsoft.com/office/powerpoint/2010/main" val="40412818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3AAD59-84AA-47E1-A2B6-B263B5545932}" type="datetimeFigureOut">
              <a:rPr lang="en-ZA" smtClean="0"/>
              <a:t>2025/11/21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4C3AC110-76E0-42DB-A6F3-97CFD103A87B}" type="slidenum">
              <a:rPr lang="en-ZA" smtClean="0"/>
              <a:t>‹#›</a:t>
            </a:fld>
            <a:endParaRPr lang="en-ZA"/>
          </a:p>
        </p:txBody>
      </p:sp>
    </p:spTree>
    <p:extLst>
      <p:ext uri="{BB962C8B-B14F-4D97-AF65-F5344CB8AC3E}">
        <p14:creationId xmlns:p14="http://schemas.microsoft.com/office/powerpoint/2010/main" val="951425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F3AAD59-84AA-47E1-A2B6-B263B5545932}" type="datetimeFigureOut">
              <a:rPr lang="en-ZA" smtClean="0"/>
              <a:t>2025/11/21</a:t>
            </a:fld>
            <a:endParaRPr lang="en-ZA"/>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C3AC110-76E0-42DB-A6F3-97CFD103A87B}" type="slidenum">
              <a:rPr lang="en-ZA" smtClean="0"/>
              <a:t>‹#›</a:t>
            </a:fld>
            <a:endParaRPr lang="en-ZA"/>
          </a:p>
        </p:txBody>
      </p:sp>
    </p:spTree>
    <p:extLst>
      <p:ext uri="{BB962C8B-B14F-4D97-AF65-F5344CB8AC3E}">
        <p14:creationId xmlns:p14="http://schemas.microsoft.com/office/powerpoint/2010/main" val="481176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6E6B0-2EEB-E12E-CA84-13D53FB54792}"/>
              </a:ext>
            </a:extLst>
          </p:cNvPr>
          <p:cNvSpPr>
            <a:spLocks noGrp="1"/>
          </p:cNvSpPr>
          <p:nvPr>
            <p:ph type="ctrTitle"/>
          </p:nvPr>
        </p:nvSpPr>
        <p:spPr>
          <a:xfrm>
            <a:off x="1507066" y="2404534"/>
            <a:ext cx="8171771" cy="1646302"/>
          </a:xfrm>
        </p:spPr>
        <p:txBody>
          <a:bodyPr/>
          <a:lstStyle/>
          <a:p>
            <a:r>
              <a:rPr lang="en-US" dirty="0"/>
              <a:t>Presentation – PROG6212</a:t>
            </a:r>
            <a:endParaRPr lang="en-ZA" dirty="0"/>
          </a:p>
        </p:txBody>
      </p:sp>
      <p:sp>
        <p:nvSpPr>
          <p:cNvPr id="3" name="Subtitle 2">
            <a:extLst>
              <a:ext uri="{FF2B5EF4-FFF2-40B4-BE49-F238E27FC236}">
                <a16:creationId xmlns:a16="http://schemas.microsoft.com/office/drawing/2014/main" id="{314DEF24-71C0-32E8-E25E-BE88DFEF1BC3}"/>
              </a:ext>
            </a:extLst>
          </p:cNvPr>
          <p:cNvSpPr>
            <a:spLocks noGrp="1"/>
          </p:cNvSpPr>
          <p:nvPr>
            <p:ph type="subTitle" idx="1"/>
          </p:nvPr>
        </p:nvSpPr>
        <p:spPr/>
        <p:txBody>
          <a:bodyPr/>
          <a:lstStyle/>
          <a:p>
            <a:r>
              <a:rPr lang="en-US" dirty="0"/>
              <a:t>ST10448839 – Raihaan Rajah</a:t>
            </a:r>
            <a:endParaRPr lang="en-ZA" dirty="0"/>
          </a:p>
        </p:txBody>
      </p:sp>
    </p:spTree>
    <p:extLst>
      <p:ext uri="{BB962C8B-B14F-4D97-AF65-F5344CB8AC3E}">
        <p14:creationId xmlns:p14="http://schemas.microsoft.com/office/powerpoint/2010/main" val="3862988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3AA5C-6A21-1DBA-B91E-C21F10EA248C}"/>
              </a:ext>
            </a:extLst>
          </p:cNvPr>
          <p:cNvSpPr>
            <a:spLocks noGrp="1"/>
          </p:cNvSpPr>
          <p:nvPr>
            <p:ph type="title"/>
          </p:nvPr>
        </p:nvSpPr>
        <p:spPr/>
        <p:txBody>
          <a:bodyPr/>
          <a:lstStyle/>
          <a:p>
            <a:r>
              <a:rPr lang="en-US" dirty="0"/>
              <a:t>Purpose for the Application</a:t>
            </a:r>
            <a:endParaRPr lang="en-ZA" dirty="0"/>
          </a:p>
        </p:txBody>
      </p:sp>
      <p:sp>
        <p:nvSpPr>
          <p:cNvPr id="3" name="Content Placeholder 2">
            <a:extLst>
              <a:ext uri="{FF2B5EF4-FFF2-40B4-BE49-F238E27FC236}">
                <a16:creationId xmlns:a16="http://schemas.microsoft.com/office/drawing/2014/main" id="{4A92A230-3D26-7BD1-970E-B98EA8F92E5D}"/>
              </a:ext>
            </a:extLst>
          </p:cNvPr>
          <p:cNvSpPr>
            <a:spLocks noGrp="1"/>
          </p:cNvSpPr>
          <p:nvPr>
            <p:ph idx="1"/>
          </p:nvPr>
        </p:nvSpPr>
        <p:spPr/>
        <p:txBody>
          <a:bodyPr>
            <a:normAutofit/>
          </a:bodyPr>
          <a:lstStyle/>
          <a:p>
            <a:r>
              <a:rPr lang="en-US" sz="2400" dirty="0"/>
              <a:t>The Contract Monthly Claim System allows lecturers to easily submit their monthly claims, lets managers review and approve them efficiently, and provides coordinators with an overview of all claims to ensure transparency and accountability.</a:t>
            </a:r>
          </a:p>
          <a:p>
            <a:r>
              <a:rPr lang="en-US" sz="2400" dirty="0"/>
              <a:t>It streamlines the claim process, reduces paperwork, and ensures accurate tracking of payments.</a:t>
            </a:r>
          </a:p>
          <a:p>
            <a:endParaRPr lang="en-ZA" sz="2400" dirty="0"/>
          </a:p>
        </p:txBody>
      </p:sp>
    </p:spTree>
    <p:extLst>
      <p:ext uri="{BB962C8B-B14F-4D97-AF65-F5344CB8AC3E}">
        <p14:creationId xmlns:p14="http://schemas.microsoft.com/office/powerpoint/2010/main" val="2220038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C1F68-8825-54B6-79D5-EDBB85C63D5C}"/>
              </a:ext>
            </a:extLst>
          </p:cNvPr>
          <p:cNvSpPr>
            <a:spLocks noGrp="1"/>
          </p:cNvSpPr>
          <p:nvPr>
            <p:ph type="title"/>
          </p:nvPr>
        </p:nvSpPr>
        <p:spPr/>
        <p:txBody>
          <a:bodyPr/>
          <a:lstStyle/>
          <a:p>
            <a:r>
              <a:rPr lang="en-US" dirty="0"/>
              <a:t>Users</a:t>
            </a:r>
            <a:endParaRPr lang="en-ZA" dirty="0"/>
          </a:p>
        </p:txBody>
      </p:sp>
      <p:sp>
        <p:nvSpPr>
          <p:cNvPr id="3" name="Content Placeholder 2">
            <a:extLst>
              <a:ext uri="{FF2B5EF4-FFF2-40B4-BE49-F238E27FC236}">
                <a16:creationId xmlns:a16="http://schemas.microsoft.com/office/drawing/2014/main" id="{E9A21B0E-D5EA-6C6B-6925-E0CB622C6FFB}"/>
              </a:ext>
            </a:extLst>
          </p:cNvPr>
          <p:cNvSpPr>
            <a:spLocks noGrp="1"/>
          </p:cNvSpPr>
          <p:nvPr>
            <p:ph idx="1"/>
          </p:nvPr>
        </p:nvSpPr>
        <p:spPr/>
        <p:txBody>
          <a:bodyPr>
            <a:normAutofit/>
          </a:bodyPr>
          <a:lstStyle/>
          <a:p>
            <a:r>
              <a:rPr lang="en-US" sz="2400" dirty="0"/>
              <a:t>There are three users:</a:t>
            </a:r>
          </a:p>
          <a:p>
            <a:r>
              <a:rPr lang="en-US" sz="2400" dirty="0"/>
              <a:t>Lecturer User: They are responsible for submitting the claims.</a:t>
            </a:r>
          </a:p>
          <a:p>
            <a:r>
              <a:rPr lang="en-US" sz="2400" dirty="0"/>
              <a:t>Manager User: They have the responsibility of approving or rejecting the submitted claims.</a:t>
            </a:r>
          </a:p>
          <a:p>
            <a:r>
              <a:rPr lang="en-US" sz="2400" dirty="0"/>
              <a:t>Coordinator User: They just have a clear overview of the application.</a:t>
            </a:r>
            <a:endParaRPr lang="en-ZA" sz="2400" dirty="0"/>
          </a:p>
        </p:txBody>
      </p:sp>
    </p:spTree>
    <p:extLst>
      <p:ext uri="{BB962C8B-B14F-4D97-AF65-F5344CB8AC3E}">
        <p14:creationId xmlns:p14="http://schemas.microsoft.com/office/powerpoint/2010/main" val="947564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9E1C-D558-B8C9-8EFE-EF26DA26B86B}"/>
              </a:ext>
            </a:extLst>
          </p:cNvPr>
          <p:cNvSpPr>
            <a:spLocks noGrp="1"/>
          </p:cNvSpPr>
          <p:nvPr>
            <p:ph type="title"/>
          </p:nvPr>
        </p:nvSpPr>
        <p:spPr/>
        <p:txBody>
          <a:bodyPr/>
          <a:lstStyle/>
          <a:p>
            <a:r>
              <a:rPr lang="en-US" dirty="0"/>
              <a:t>Features</a:t>
            </a:r>
            <a:endParaRPr lang="en-ZA" dirty="0"/>
          </a:p>
        </p:txBody>
      </p:sp>
      <p:sp>
        <p:nvSpPr>
          <p:cNvPr id="3" name="Content Placeholder 2">
            <a:extLst>
              <a:ext uri="{FF2B5EF4-FFF2-40B4-BE49-F238E27FC236}">
                <a16:creationId xmlns:a16="http://schemas.microsoft.com/office/drawing/2014/main" id="{DCCA5915-E6F8-9023-CFE9-31FA9D3F3FBF}"/>
              </a:ext>
            </a:extLst>
          </p:cNvPr>
          <p:cNvSpPr>
            <a:spLocks noGrp="1"/>
          </p:cNvSpPr>
          <p:nvPr>
            <p:ph idx="1"/>
          </p:nvPr>
        </p:nvSpPr>
        <p:spPr/>
        <p:txBody>
          <a:bodyPr>
            <a:normAutofit/>
          </a:bodyPr>
          <a:lstStyle/>
          <a:p>
            <a:r>
              <a:rPr lang="en-US" sz="2400" dirty="0"/>
              <a:t>The system allows lecturers to submit monthly claims with multiple activities, attach supporting documents, and track the status of their submissions. Managers can review, approve, or reject claims, while coordinators can oversee the entire process. Automated validation and reporting features ensure accuracy and efficiency.</a:t>
            </a:r>
          </a:p>
          <a:p>
            <a:endParaRPr lang="en-ZA" sz="2400" dirty="0"/>
          </a:p>
        </p:txBody>
      </p:sp>
    </p:spTree>
    <p:extLst>
      <p:ext uri="{BB962C8B-B14F-4D97-AF65-F5344CB8AC3E}">
        <p14:creationId xmlns:p14="http://schemas.microsoft.com/office/powerpoint/2010/main" val="869853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88AA2-45C9-E815-ACB8-0F68C22F0C2F}"/>
              </a:ext>
            </a:extLst>
          </p:cNvPr>
          <p:cNvSpPr>
            <a:spLocks noGrp="1"/>
          </p:cNvSpPr>
          <p:nvPr>
            <p:ph type="title"/>
          </p:nvPr>
        </p:nvSpPr>
        <p:spPr/>
        <p:txBody>
          <a:bodyPr/>
          <a:lstStyle/>
          <a:p>
            <a:r>
              <a:rPr lang="en-US" dirty="0"/>
              <a:t>Database</a:t>
            </a:r>
            <a:endParaRPr lang="en-ZA" dirty="0"/>
          </a:p>
        </p:txBody>
      </p:sp>
      <p:sp>
        <p:nvSpPr>
          <p:cNvPr id="3" name="Content Placeholder 2">
            <a:extLst>
              <a:ext uri="{FF2B5EF4-FFF2-40B4-BE49-F238E27FC236}">
                <a16:creationId xmlns:a16="http://schemas.microsoft.com/office/drawing/2014/main" id="{5FEADF73-4A4C-F46C-F1B4-1A99B3600E99}"/>
              </a:ext>
            </a:extLst>
          </p:cNvPr>
          <p:cNvSpPr>
            <a:spLocks noGrp="1"/>
          </p:cNvSpPr>
          <p:nvPr>
            <p:ph idx="1"/>
          </p:nvPr>
        </p:nvSpPr>
        <p:spPr/>
        <p:txBody>
          <a:bodyPr/>
          <a:lstStyle/>
          <a:p>
            <a:r>
              <a:rPr lang="en-US" dirty="0"/>
              <a:t>The database stores all information related to the Contract Monthly Claim System, including lecturers, claims, and individual claim items. Each lecturer has a unique ID, name, email, and phone number. Claims are linked to lecturers and include details such as the month, status, submission date, and any attached documents. Claim items capture the activity description, hours worked, rate, notes, and total payment.</a:t>
            </a:r>
          </a:p>
          <a:p>
            <a:r>
              <a:rPr lang="en-US" dirty="0"/>
              <a:t>The database structure ensures data integrity and easy retrieval of information. It supports features like viewing claim history, generating reports, and validating claims automatically. Relationships between tables allow the system to efficiently manage, update, and display accurate claim and lecturer information for both lecturers and managers.</a:t>
            </a:r>
            <a:endParaRPr lang="en-ZA" dirty="0"/>
          </a:p>
        </p:txBody>
      </p:sp>
    </p:spTree>
    <p:extLst>
      <p:ext uri="{BB962C8B-B14F-4D97-AF65-F5344CB8AC3E}">
        <p14:creationId xmlns:p14="http://schemas.microsoft.com/office/powerpoint/2010/main" val="1134783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861AD-D3ED-506D-1B08-4983C9C38705}"/>
              </a:ext>
            </a:extLst>
          </p:cNvPr>
          <p:cNvSpPr>
            <a:spLocks noGrp="1"/>
          </p:cNvSpPr>
          <p:nvPr>
            <p:ph type="title"/>
          </p:nvPr>
        </p:nvSpPr>
        <p:spPr/>
        <p:txBody>
          <a:bodyPr/>
          <a:lstStyle/>
          <a:p>
            <a:r>
              <a:rPr lang="en-US" dirty="0"/>
              <a:t>Screenshots</a:t>
            </a:r>
            <a:endParaRPr lang="en-ZA" dirty="0"/>
          </a:p>
        </p:txBody>
      </p:sp>
      <p:pic>
        <p:nvPicPr>
          <p:cNvPr id="6" name="Content Placeholder 5" descr="A screenshot of a login screen&#10;&#10;AI-generated content may be incorrect.">
            <a:extLst>
              <a:ext uri="{FF2B5EF4-FFF2-40B4-BE49-F238E27FC236}">
                <a16:creationId xmlns:a16="http://schemas.microsoft.com/office/drawing/2014/main" id="{5B49B2D5-DD20-158A-47AF-F873E1C5E13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54628" y="2639015"/>
            <a:ext cx="3629532" cy="2924583"/>
          </a:xfrm>
        </p:spPr>
      </p:pic>
      <p:pic>
        <p:nvPicPr>
          <p:cNvPr id="8" name="Content Placeholder 7" descr="A screenshot of a computer&#10;&#10;AI-generated content may be incorrect.">
            <a:extLst>
              <a:ext uri="{FF2B5EF4-FFF2-40B4-BE49-F238E27FC236}">
                <a16:creationId xmlns:a16="http://schemas.microsoft.com/office/drawing/2014/main" id="{63D600DD-0E72-C7AE-C78F-334A79994B5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954771" y="2099249"/>
            <a:ext cx="5492709" cy="3916540"/>
          </a:xfrm>
        </p:spPr>
      </p:pic>
    </p:spTree>
    <p:extLst>
      <p:ext uri="{BB962C8B-B14F-4D97-AF65-F5344CB8AC3E}">
        <p14:creationId xmlns:p14="http://schemas.microsoft.com/office/powerpoint/2010/main" val="3247162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E52B8-30FC-55E1-D1F6-DEBE2E19B102}"/>
              </a:ext>
            </a:extLst>
          </p:cNvPr>
          <p:cNvSpPr>
            <a:spLocks noGrp="1"/>
          </p:cNvSpPr>
          <p:nvPr>
            <p:ph type="title"/>
          </p:nvPr>
        </p:nvSpPr>
        <p:spPr/>
        <p:txBody>
          <a:bodyPr/>
          <a:lstStyle/>
          <a:p>
            <a:r>
              <a:rPr lang="en-US" dirty="0"/>
              <a:t>Screenshots Continued</a:t>
            </a:r>
            <a:endParaRPr lang="en-ZA" dirty="0"/>
          </a:p>
        </p:txBody>
      </p:sp>
      <p:pic>
        <p:nvPicPr>
          <p:cNvPr id="6" name="Content Placeholder 5" descr="A screenshot of a document&#10;&#10;AI-generated content may be incorrect.">
            <a:extLst>
              <a:ext uri="{FF2B5EF4-FFF2-40B4-BE49-F238E27FC236}">
                <a16:creationId xmlns:a16="http://schemas.microsoft.com/office/drawing/2014/main" id="{F8B7F8D0-C4F0-9518-2E9D-7E21C04CEAF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92852" y="1990098"/>
            <a:ext cx="5172729" cy="3604551"/>
          </a:xfrm>
        </p:spPr>
      </p:pic>
      <p:pic>
        <p:nvPicPr>
          <p:cNvPr id="8" name="Content Placeholder 7" descr="A screenshot of a form&#10;&#10;AI-generated content may be incorrect.">
            <a:extLst>
              <a:ext uri="{FF2B5EF4-FFF2-40B4-BE49-F238E27FC236}">
                <a16:creationId xmlns:a16="http://schemas.microsoft.com/office/drawing/2014/main" id="{A9064FEA-3087-C8DD-8750-FFEA964FAD1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096000" y="1742213"/>
            <a:ext cx="5640229" cy="3946318"/>
          </a:xfrm>
        </p:spPr>
      </p:pic>
    </p:spTree>
    <p:extLst>
      <p:ext uri="{BB962C8B-B14F-4D97-AF65-F5344CB8AC3E}">
        <p14:creationId xmlns:p14="http://schemas.microsoft.com/office/powerpoint/2010/main" val="136488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B6177-3295-D4B0-455E-A4A24DA5E952}"/>
              </a:ext>
            </a:extLst>
          </p:cNvPr>
          <p:cNvSpPr>
            <a:spLocks noGrp="1"/>
          </p:cNvSpPr>
          <p:nvPr>
            <p:ph type="title"/>
          </p:nvPr>
        </p:nvSpPr>
        <p:spPr/>
        <p:txBody>
          <a:bodyPr/>
          <a:lstStyle/>
          <a:p>
            <a:r>
              <a:rPr lang="en-US" dirty="0"/>
              <a:t>Benefits</a:t>
            </a:r>
            <a:endParaRPr lang="en-ZA" dirty="0"/>
          </a:p>
        </p:txBody>
      </p:sp>
      <p:sp>
        <p:nvSpPr>
          <p:cNvPr id="3" name="Content Placeholder 2">
            <a:extLst>
              <a:ext uri="{FF2B5EF4-FFF2-40B4-BE49-F238E27FC236}">
                <a16:creationId xmlns:a16="http://schemas.microsoft.com/office/drawing/2014/main" id="{D725F48A-B030-F6DB-1BA4-952D4BDB5718}"/>
              </a:ext>
            </a:extLst>
          </p:cNvPr>
          <p:cNvSpPr>
            <a:spLocks noGrp="1"/>
          </p:cNvSpPr>
          <p:nvPr>
            <p:ph idx="1"/>
          </p:nvPr>
        </p:nvSpPr>
        <p:spPr/>
        <p:txBody>
          <a:bodyPr/>
          <a:lstStyle/>
          <a:p>
            <a:r>
              <a:rPr lang="en-US" dirty="0"/>
              <a:t>The Contract Monthly Claim System simplifies the claim submission and approval process, saving time for both lecturers and managers. By digitizing the workflow, it eliminates the need for paper forms and manual tracking, reducing errors and delays.</a:t>
            </a:r>
          </a:p>
          <a:p>
            <a:r>
              <a:rPr lang="en-US" dirty="0"/>
              <a:t>The system provides clear visibility of claim statuses, allowing lecturers to monitor their submissions and managers to efficiently review and approve claims. Automated calculations and validation ensure accuracy in payments and compliance with institutional policies.</a:t>
            </a:r>
          </a:p>
          <a:p>
            <a:r>
              <a:rPr lang="en-US" dirty="0"/>
              <a:t>Overall, the system improves productivity, transparency, and accountability. It ensures that all claims are processed consistently, supports easy reporting, and provides a professional, centralized platform for managing monthly contract claims.</a:t>
            </a:r>
            <a:endParaRPr lang="en-ZA" dirty="0"/>
          </a:p>
        </p:txBody>
      </p:sp>
    </p:spTree>
    <p:extLst>
      <p:ext uri="{BB962C8B-B14F-4D97-AF65-F5344CB8AC3E}">
        <p14:creationId xmlns:p14="http://schemas.microsoft.com/office/powerpoint/2010/main" val="2104578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52C37-E406-2510-8C22-52050B4E3271}"/>
              </a:ext>
            </a:extLst>
          </p:cNvPr>
          <p:cNvSpPr>
            <a:spLocks noGrp="1"/>
          </p:cNvSpPr>
          <p:nvPr>
            <p:ph type="title"/>
          </p:nvPr>
        </p:nvSpPr>
        <p:spPr/>
        <p:txBody>
          <a:bodyPr/>
          <a:lstStyle/>
          <a:p>
            <a:r>
              <a:rPr lang="en-US" dirty="0"/>
              <a:t>The End</a:t>
            </a:r>
            <a:endParaRPr lang="en-ZA" dirty="0"/>
          </a:p>
        </p:txBody>
      </p:sp>
      <p:sp>
        <p:nvSpPr>
          <p:cNvPr id="3" name="Text Placeholder 2">
            <a:extLst>
              <a:ext uri="{FF2B5EF4-FFF2-40B4-BE49-F238E27FC236}">
                <a16:creationId xmlns:a16="http://schemas.microsoft.com/office/drawing/2014/main" id="{38BDB967-039E-A39D-F174-7B9372C58B97}"/>
              </a:ext>
            </a:extLst>
          </p:cNvPr>
          <p:cNvSpPr>
            <a:spLocks noGrp="1"/>
          </p:cNvSpPr>
          <p:nvPr>
            <p:ph type="body" idx="1"/>
          </p:nvPr>
        </p:nvSpPr>
        <p:spPr/>
        <p:txBody>
          <a:bodyPr/>
          <a:lstStyle/>
          <a:p>
            <a:endParaRPr lang="en-ZA"/>
          </a:p>
        </p:txBody>
      </p:sp>
    </p:spTree>
    <p:extLst>
      <p:ext uri="{BB962C8B-B14F-4D97-AF65-F5344CB8AC3E}">
        <p14:creationId xmlns:p14="http://schemas.microsoft.com/office/powerpoint/2010/main" val="347062888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26</TotalTime>
  <Words>419</Words>
  <Application>Microsoft Office PowerPoint</Application>
  <PresentationFormat>Widescreen</PresentationFormat>
  <Paragraphs>22</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Trebuchet MS</vt:lpstr>
      <vt:lpstr>Wingdings 3</vt:lpstr>
      <vt:lpstr>Facet</vt:lpstr>
      <vt:lpstr>Presentation – PROG6212</vt:lpstr>
      <vt:lpstr>Purpose for the Application</vt:lpstr>
      <vt:lpstr>Users</vt:lpstr>
      <vt:lpstr>Features</vt:lpstr>
      <vt:lpstr>Database</vt:lpstr>
      <vt:lpstr>Screenshots</vt:lpstr>
      <vt:lpstr>Screenshots Continued</vt:lpstr>
      <vt:lpstr>Benefits</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Raihaan Rajah</dc:creator>
  <cp:lastModifiedBy>Raihaan Rajah</cp:lastModifiedBy>
  <cp:revision>12</cp:revision>
  <dcterms:created xsi:type="dcterms:W3CDTF">2025-11-21T13:29:46Z</dcterms:created>
  <dcterms:modified xsi:type="dcterms:W3CDTF">2025-11-21T13:56:17Z</dcterms:modified>
</cp:coreProperties>
</file>